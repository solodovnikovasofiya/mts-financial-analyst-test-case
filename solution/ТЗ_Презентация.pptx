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>
        <p:scale>
          <a:sx n="66" d="100"/>
          <a:sy n="66" d="100"/>
        </p:scale>
        <p:origin x="1330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6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>
              <a:buFont typeface="+mj-lt"/>
              <a:buAutoNum type="arabicPeriod"/>
              <a:defRPr/>
            </a:lvl1pPr>
            <a:lvl2pPr marL="228600" indent="-228600">
              <a:buFont typeface="+mj-lt"/>
              <a:buAutoNum type="arabicPeriod"/>
              <a:defRPr/>
            </a:lvl2pPr>
            <a:lvl3pPr marL="228600">
              <a:buFont typeface="+mj-lt"/>
              <a:buAutoNum type="arabicPeriod"/>
              <a:defRPr/>
            </a:lvl3pPr>
            <a:lvl4pPr marL="228600" indent="-228600">
              <a:buFont typeface="+mj-lt"/>
              <a:buAutoNum type="arabicPeriod"/>
              <a:defRPr/>
            </a:lvl4pPr>
            <a:lvl5pPr marL="228600">
              <a:buFont typeface="+mj-lt"/>
              <a:buAutoNum type="arabicPeriod"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1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2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5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7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2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4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1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+mj-lt"/>
        <a:buAutoNum type="arabicPeriod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0E5C-CB60-9ADD-3363-01E3CEE53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26638"/>
            <a:ext cx="9144000" cy="2387600"/>
          </a:xfrm>
        </p:spPr>
        <p:txBody>
          <a:bodyPr/>
          <a:lstStyle/>
          <a:p>
            <a:r>
              <a:rPr lang="ru-RU" dirty="0"/>
              <a:t>Тестовое задание: Анализ объёма операций по исполнителям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C6545F-DAF2-29CD-9135-35E948929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8925" y="4525523"/>
            <a:ext cx="6914147" cy="20829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ru-RU" b="1" u="sng" dirty="0">
                <a:solidFill>
                  <a:schemeClr val="bg1"/>
                </a:solidFill>
              </a:rPr>
              <a:t>Позиция</a:t>
            </a:r>
            <a:r>
              <a:rPr lang="ru-RU" dirty="0"/>
              <a:t>: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 </a:t>
            </a:r>
            <a:r>
              <a:rPr lang="ru-RU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Стажёр-аналитик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ru-RU" b="1" u="sng" dirty="0">
                <a:solidFill>
                  <a:schemeClr val="bg1"/>
                </a:solidFill>
              </a:rPr>
              <a:t>Выполнила</a:t>
            </a:r>
            <a:r>
              <a:rPr lang="ru-RU" dirty="0"/>
              <a:t>: 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Солодовникова София Олеговна</a:t>
            </a:r>
          </a:p>
        </p:txBody>
      </p:sp>
    </p:spTree>
    <p:extLst>
      <p:ext uri="{BB962C8B-B14F-4D97-AF65-F5344CB8AC3E}">
        <p14:creationId xmlns:p14="http://schemas.microsoft.com/office/powerpoint/2010/main" val="351180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B83E1-E841-DE80-3AC0-748EFC4AB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Алгоритм 1. Группировка и агрегация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F033E6-B871-5B0B-6DA9-C8C14D47C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9665368" cy="4351338"/>
          </a:xfrm>
        </p:spPr>
        <p:txBody>
          <a:bodyPr>
            <a:normAutofit/>
          </a:bodyPr>
          <a:lstStyle/>
          <a:p>
            <a:r>
              <a:rPr lang="ru-RU" sz="2400" dirty="0"/>
              <a:t> Сгруппировать исходные данные в сводной таблице по паре ID исполнителя + Код подразделения</a:t>
            </a:r>
          </a:p>
          <a:p>
            <a:r>
              <a:rPr lang="ru-RU" sz="2400" dirty="0"/>
              <a:t> Посчитать количество документов</a:t>
            </a:r>
            <a:r>
              <a:rPr lang="en-US" sz="2400" dirty="0"/>
              <a:t> </a:t>
            </a:r>
            <a:r>
              <a:rPr lang="ru-RU" sz="2400" dirty="0"/>
              <a:t>для каждой пары</a:t>
            </a:r>
          </a:p>
          <a:p>
            <a:r>
              <a:rPr lang="ru-RU" sz="2400" dirty="0"/>
              <a:t> Для каждого исполнителя найти максимальное количество документов среди всех подразделений </a:t>
            </a:r>
          </a:p>
          <a:p>
            <a:r>
              <a:rPr lang="ru-RU" sz="2400" dirty="0"/>
              <a:t> Отфильтровать строки с максимальным количеством</a:t>
            </a:r>
          </a:p>
          <a:p>
            <a:r>
              <a:rPr lang="ru-RU" sz="2400" dirty="0"/>
              <a:t> Рассчитать долю документов в общем количестве</a:t>
            </a:r>
          </a:p>
          <a:p>
            <a:r>
              <a:rPr lang="ru-RU" sz="2400" dirty="0"/>
              <a:t> При равенстве максимумов выбрать подразделение, идущее первым по алфавиту 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1826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E60796-BC52-4154-A3A9-773DE8285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565497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BFEC1042-3FDC-47A3-BCD7-CA9D052F9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703FA-88A9-D176-5307-9DB605D14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44" y="526614"/>
            <a:ext cx="9426102" cy="803684"/>
          </a:xfrm>
        </p:spPr>
        <p:txBody>
          <a:bodyPr>
            <a:normAutofit/>
          </a:bodyPr>
          <a:lstStyle/>
          <a:p>
            <a:r>
              <a:rPr lang="ru-RU" dirty="0"/>
              <a:t>Реализация алгоритма 1 (</a:t>
            </a:r>
            <a:r>
              <a:rPr lang="en-US" dirty="0"/>
              <a:t>Excel)</a:t>
            </a:r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дисплей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B1CF9C06-1F6B-1091-B5A9-567FD6D9F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70" y="3057359"/>
            <a:ext cx="3226556" cy="352923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8F8EECA-5D3A-21CC-5DA4-2D277D8D3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37" y="2856852"/>
            <a:ext cx="6295145" cy="1886804"/>
          </a:xfrm>
          <a:prstGeom prst="rect">
            <a:avLst/>
          </a:prstGeom>
        </p:spPr>
      </p:pic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AA517A98-3CCE-7EC6-EEFA-CBC43B34946F}"/>
              </a:ext>
            </a:extLst>
          </p:cNvPr>
          <p:cNvSpPr/>
          <p:nvPr/>
        </p:nvSpPr>
        <p:spPr>
          <a:xfrm>
            <a:off x="556063" y="1553346"/>
            <a:ext cx="5795198" cy="1127848"/>
          </a:xfrm>
          <a:prstGeom prst="round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FF00"/>
                </a:solidFill>
                <a:prstDash val="dash"/>
              </a:ln>
              <a:solidFill>
                <a:srgbClr val="FFFF00"/>
              </a:solidFill>
            </a:endParaRPr>
          </a:p>
        </p:txBody>
      </p:sp>
      <p:cxnSp>
        <p:nvCxnSpPr>
          <p:cNvPr id="60" name="Соединитель: изогнутый 59">
            <a:extLst>
              <a:ext uri="{FF2B5EF4-FFF2-40B4-BE49-F238E27FC236}">
                <a16:creationId xmlns:a16="http://schemas.microsoft.com/office/drawing/2014/main" id="{5D24B118-0D20-6031-B9C4-41C5CD8B1D31}"/>
              </a:ext>
            </a:extLst>
          </p:cNvPr>
          <p:cNvCxnSpPr>
            <a:cxnSpLocks/>
          </p:cNvCxnSpPr>
          <p:nvPr/>
        </p:nvCxnSpPr>
        <p:spPr>
          <a:xfrm flipV="1">
            <a:off x="4427643" y="4836725"/>
            <a:ext cx="4446474" cy="1432003"/>
          </a:xfrm>
          <a:prstGeom prst="curvedConnector2">
            <a:avLst/>
          </a:prstGeom>
          <a:ln w="3810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DB7E87B-817C-20C6-8BCA-89CA86209A07}"/>
              </a:ext>
            </a:extLst>
          </p:cNvPr>
          <p:cNvSpPr txBox="1"/>
          <p:nvPr/>
        </p:nvSpPr>
        <p:spPr>
          <a:xfrm>
            <a:off x="651168" y="1638731"/>
            <a:ext cx="5736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Данные сгруппированы в сводной таблице в разрезе исполнителей и подразделений. Подсчитано количество документов для каждой пары.</a:t>
            </a:r>
          </a:p>
        </p:txBody>
      </p:sp>
    </p:spTree>
    <p:extLst>
      <p:ext uri="{BB962C8B-B14F-4D97-AF65-F5344CB8AC3E}">
        <p14:creationId xmlns:p14="http://schemas.microsoft.com/office/powerpoint/2010/main" val="190454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52B13-36D1-C40F-40FB-F6BD2A55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80DB8C8-67C4-90F5-A6E3-46A462D0D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2165E7-B3EF-A10D-147B-751DDA39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7AC5CA30-972D-0D1E-9C9B-4F8D1F878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565497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64EE97D0-806E-5A15-1D6D-AB61C86F0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78CA02-99C5-D8E4-E6EA-25461855B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C6C256-D500-5388-66EB-661F292C2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4BABCB2-4BA8-24AC-0D1F-9935B8F589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4FDE5D-70AC-C85C-E029-F4933A18B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1BA68B9-F4C0-F846-2B00-4DAAE15F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37D8130-DCDE-BD02-FDAB-B49E6EB17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792451-D5DA-09CA-B507-83886182D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15928EE-5B6A-7D65-C07E-F5EF8D10A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EE27674-190D-EA99-7609-A043CC319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1EAC25-39FD-41CE-CF62-76195397B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260C73-3BF3-4128-4CB6-4BDEB454E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3C26832-A89B-3CD6-7198-BF9B0ED62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A2A9F20-59CF-B444-E413-7F1274E75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0B0A80F-5643-D746-F24E-4F1B7A45F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E1176C6-081D-25EA-E6AE-AD1462F70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AE2D05-137A-8BF1-C2F8-8275C158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F521DDD-1492-A9E5-BFBD-75372F8A78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775DFDD-9FF4-0519-29C6-E04672B83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8230FE-03DD-0CA3-A083-57961A4D9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81BE8E0-AD97-7DF6-6ED5-2828BD0AF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2E15999-E9D4-448F-8E0F-011EAAE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514F21A-C113-1900-9096-058774291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43D113F-9FA6-17E1-FB73-3342C8437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9A48C43-9E9A-E241-DF0C-3F140B6DC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6C655F-DCCA-3DA3-9FF2-60175951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58ECD5F-F7DA-FA1F-B26F-5ED809859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2B246B0-FE70-04F1-4499-D7C0D691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E31327A-7C1A-619E-2EA5-5A80FD2A0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4FFA84E-86B7-BFF6-7804-370E9CB16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650EA4D-B00E-CF54-F7B7-C1CC2B6A6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A1596-0FF6-40CD-96AD-C46BFB14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10686"/>
            <a:ext cx="9426102" cy="803684"/>
          </a:xfrm>
        </p:spPr>
        <p:txBody>
          <a:bodyPr>
            <a:normAutofit/>
          </a:bodyPr>
          <a:lstStyle/>
          <a:p>
            <a:r>
              <a:rPr lang="ru-RU" dirty="0"/>
              <a:t>Реализация алгоритма 1 (</a:t>
            </a:r>
            <a:r>
              <a:rPr lang="en-US" dirty="0"/>
              <a:t>Excel)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93C76C-9F49-0B26-073B-20EADB5E6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130" y="2379818"/>
            <a:ext cx="3915843" cy="2998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Для каждой строки найден максимум по исполнителю с помощью формулы </a:t>
            </a:r>
            <a:r>
              <a:rPr lang="ru-RU" sz="1800" b="1" u="sng" dirty="0"/>
              <a:t>МАКСЕСЛИ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49A67D-B70E-7F79-B137-5A78A9AD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82" y="2051808"/>
            <a:ext cx="3771140" cy="17520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547683-4969-9084-3A69-386F30928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527" y="2045745"/>
            <a:ext cx="3835794" cy="2099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A6E274-B47A-E642-1F70-360B0825A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96" y="4893346"/>
            <a:ext cx="9783540" cy="1619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EFABAE-FD11-F771-9C62-2DB85A14E5F6}"/>
              </a:ext>
            </a:extLst>
          </p:cNvPr>
          <p:cNvSpPr txBox="1"/>
          <p:nvPr/>
        </p:nvSpPr>
        <p:spPr>
          <a:xfrm>
            <a:off x="8517147" y="3200003"/>
            <a:ext cx="2954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Отфильтрована только ИСТИНА — это и есть подразделения с наибольшим объёмом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88FF5B-F89B-AD95-9DD3-0C51CC860FED}"/>
              </a:ext>
            </a:extLst>
          </p:cNvPr>
          <p:cNvSpPr txBox="1"/>
          <p:nvPr/>
        </p:nvSpPr>
        <p:spPr>
          <a:xfrm>
            <a:off x="5840886" y="2344547"/>
            <a:ext cx="611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bg1"/>
                </a:solidFill>
                <a:effectLst/>
                <a:latin typeface="quote-cjk-patch"/>
              </a:rPr>
              <a:t>Рассчитана доля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67F0423A-FDDC-8820-12F9-15BB597D1DEB}"/>
              </a:ext>
            </a:extLst>
          </p:cNvPr>
          <p:cNvSpPr/>
          <p:nvPr/>
        </p:nvSpPr>
        <p:spPr>
          <a:xfrm>
            <a:off x="8432245" y="3108515"/>
            <a:ext cx="3039369" cy="1015628"/>
          </a:xfrm>
          <a:prstGeom prst="round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FF00"/>
                </a:solidFill>
                <a:prstDash val="dash"/>
              </a:ln>
              <a:solidFill>
                <a:srgbClr val="FFFF00"/>
              </a:solidFill>
            </a:endParaRPr>
          </a:p>
        </p:txBody>
      </p:sp>
      <p:cxnSp>
        <p:nvCxnSpPr>
          <p:cNvPr id="52" name="Соединитель: изогнутый 51">
            <a:extLst>
              <a:ext uri="{FF2B5EF4-FFF2-40B4-BE49-F238E27FC236}">
                <a16:creationId xmlns:a16="http://schemas.microsoft.com/office/drawing/2014/main" id="{33C2E22B-FA8E-3E8E-DCD9-C1BE3A1ABF45}"/>
              </a:ext>
            </a:extLst>
          </p:cNvPr>
          <p:cNvCxnSpPr>
            <a:cxnSpLocks/>
          </p:cNvCxnSpPr>
          <p:nvPr/>
        </p:nvCxnSpPr>
        <p:spPr>
          <a:xfrm rot="5400000">
            <a:off x="9097038" y="4154353"/>
            <a:ext cx="714238" cy="671018"/>
          </a:xfrm>
          <a:prstGeom prst="curvedConnector3">
            <a:avLst>
              <a:gd name="adj1" fmla="val 50000"/>
            </a:avLst>
          </a:prstGeom>
          <a:ln w="3810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07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CEFE7-1AF9-8B08-9503-CDE7B0CF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09F34EC-8DA4-0CA6-D855-8053CEC7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F9F650-19E3-7896-FAA9-15641A56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AFF10730-999F-5D20-26B7-889DE5018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565497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6A7D0086-2282-C276-A031-7F0E3C6AC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94907" y="1744296"/>
            <a:ext cx="6858000" cy="3369413"/>
          </a:xfrm>
          <a:prstGeom prst="flowChartDocument">
            <a:avLst/>
          </a:pr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666F51-662D-371F-48E6-53705BC36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8065B2-40BE-AC4E-DF0C-DA1762973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168559-B3FC-E3B0-4BA0-B277BE179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D00F34-8B1B-FB97-115F-F133AF0EF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DBAA3C-1583-27E0-641D-22864B366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DA89C78-C412-FB07-6E85-05D93C02B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B2E9431-495A-DD8A-FB70-849B556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786B2A-B817-67B4-D42E-DD04A22A7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CA6DCE6-D681-A661-DF95-148A027FF9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4C3B8C8-558B-0E9D-B53C-30AAFF0DA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C428D59-2175-3854-1BC6-50ACE2B69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29F10E-CB71-7D57-9944-28F07700D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CB75350-A5DA-A3C6-01CA-22AB854D8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5081887-8B0B-CF06-3DA7-E4EDF441B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3141688-BFB4-5DBB-F4E8-E901034FEC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3097F2-4B6A-6D5A-FD24-A6D620B48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DACF44-5BA2-300B-8E0B-A471A4EE1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3BACBD1-07F5-943D-3911-322AD455C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BA32E8-BDB3-E0B5-5282-5872C1881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963BDCF-64D3-72FB-A590-1C875363D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2A72C2B-9F21-4755-E995-394A89E6C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20BA70-C489-7308-F776-8439E5F7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0312BB1-1444-656C-5DE9-46B85C092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C458549-3C3A-4804-3C66-CC97D990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C5E71AE-CCA7-F6CE-8F8F-FCE608238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804C9B1-B6FA-61D9-44AC-45F43D314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735E17A-1C39-77EA-4FD3-B570E3E3D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BC9C893-8DFF-7444-32AD-4FDEC3F5A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77E1FAE-5AAC-9590-FAE0-42905EC64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AFAFC2B-6FA6-52DF-E6B6-2ECEE57B2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B9D2B-6239-3592-B72D-BA6FCC2D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10686"/>
            <a:ext cx="9426102" cy="803684"/>
          </a:xfrm>
        </p:spPr>
        <p:txBody>
          <a:bodyPr>
            <a:normAutofit/>
          </a:bodyPr>
          <a:lstStyle/>
          <a:p>
            <a:r>
              <a:rPr lang="ru-RU" dirty="0"/>
              <a:t>Реализация алгоритма 1 (</a:t>
            </a:r>
            <a:r>
              <a:rPr lang="en-US" dirty="0"/>
              <a:t>Excel)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28677C-01FD-6AD8-45D5-34862F638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30" y="1753758"/>
            <a:ext cx="7344329" cy="2998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В данных встречались исполнители, у которых несколько подразделений с одинаковыми значениями =</a:t>
            </a:r>
            <a:r>
              <a:rPr lang="en-US" sz="1800" b="1" dirty="0"/>
              <a:t>&gt; </a:t>
            </a:r>
            <a:r>
              <a:rPr lang="ru-RU" sz="1800" b="1" dirty="0"/>
              <a:t>некоторые доли одинаково составляли 50%.</a:t>
            </a:r>
          </a:p>
          <a:p>
            <a:pPr marL="0" indent="0">
              <a:buNone/>
            </a:pPr>
            <a:r>
              <a:rPr lang="ru-RU" sz="1800" b="1" dirty="0"/>
              <a:t>При обработке я учитывала случаи равенства макс. значений – логика отбора не искажает результат. Исходные данные сохранены на отдельном листе без изменений. Все преобразования, включая удаление дубликатов, выполнены на промежуточных листах с агрегированными данными.</a:t>
            </a:r>
            <a:endParaRPr lang="ru-RU" sz="1800" b="1" u="sng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98001AE-1382-82B6-3EFF-BC002E34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778" y="2185085"/>
            <a:ext cx="4092773" cy="26071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E77EE2-430D-9650-B84D-C0EEA096B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134" y="5230107"/>
            <a:ext cx="7725853" cy="1343212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4E96CAA-8B77-C460-2E05-56AFD783FFEF}"/>
              </a:ext>
            </a:extLst>
          </p:cNvPr>
          <p:cNvSpPr/>
          <p:nvPr/>
        </p:nvSpPr>
        <p:spPr>
          <a:xfrm>
            <a:off x="323448" y="1576666"/>
            <a:ext cx="7321407" cy="3052569"/>
          </a:xfrm>
          <a:prstGeom prst="roundRect">
            <a:avLst/>
          </a:prstGeom>
          <a:noFill/>
          <a:ln w="28575"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FF00"/>
                </a:solidFill>
                <a:prstDash val="dash"/>
              </a:ln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4C1A1-077A-D100-A830-B97C5E95B7FB}"/>
              </a:ext>
            </a:extLst>
          </p:cNvPr>
          <p:cNvSpPr txBox="1"/>
          <p:nvPr/>
        </p:nvSpPr>
        <p:spPr>
          <a:xfrm>
            <a:off x="3936370" y="4735480"/>
            <a:ext cx="3778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>
                <a:solidFill>
                  <a:schemeClr val="bg1"/>
                </a:solidFill>
              </a:rPr>
              <a:t>Первые </a:t>
            </a:r>
            <a:r>
              <a:rPr lang="ru-RU" b="1" dirty="0">
                <a:solidFill>
                  <a:schemeClr val="bg1"/>
                </a:solidFill>
              </a:rPr>
              <a:t>5 строк итоговой таблицы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EC3B3-0962-95D7-DD6A-7A6BB315F0CE}"/>
              </a:ext>
            </a:extLst>
          </p:cNvPr>
          <p:cNvSpPr txBox="1"/>
          <p:nvPr/>
        </p:nvSpPr>
        <p:spPr>
          <a:xfrm>
            <a:off x="8426963" y="1564221"/>
            <a:ext cx="3833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0" dirty="0">
                <a:solidFill>
                  <a:schemeClr val="bg1"/>
                </a:solidFill>
                <a:effectLst/>
                <a:latin typeface="quote-cjk-patch"/>
              </a:rPr>
              <a:t> </a:t>
            </a:r>
            <a:r>
              <a:rPr lang="ru-RU" sz="1600" b="1" dirty="0">
                <a:solidFill>
                  <a:schemeClr val="bg1"/>
                </a:solidFill>
                <a:latin typeface="quote-cjk-patch"/>
              </a:rPr>
              <a:t>Ч</a:t>
            </a:r>
            <a:r>
              <a:rPr lang="ru-RU" sz="1600" b="1" i="0" dirty="0">
                <a:solidFill>
                  <a:schemeClr val="bg1"/>
                </a:solidFill>
                <a:effectLst/>
                <a:latin typeface="quote-cjk-patch"/>
              </a:rPr>
              <a:t>тобы для каждого исполнителя осталась одна строка удаляю дубликаты</a:t>
            </a:r>
            <a:endParaRPr lang="ru-RU" sz="1600" b="1" dirty="0">
              <a:solidFill>
                <a:schemeClr val="bg1"/>
              </a:solidFill>
            </a:endParaRPr>
          </a:p>
        </p:txBody>
      </p:sp>
      <p:cxnSp>
        <p:nvCxnSpPr>
          <p:cNvPr id="11" name="Соединитель: изогнутый 10">
            <a:extLst>
              <a:ext uri="{FF2B5EF4-FFF2-40B4-BE49-F238E27FC236}">
                <a16:creationId xmlns:a16="http://schemas.microsoft.com/office/drawing/2014/main" id="{EEE693F6-4840-7C80-F134-1BB1DC378746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 flipV="1">
            <a:off x="9568987" y="4806587"/>
            <a:ext cx="1435946" cy="1095125"/>
          </a:xfrm>
          <a:prstGeom prst="curvedConnector3">
            <a:avLst>
              <a:gd name="adj1" fmla="val 50000"/>
            </a:avLst>
          </a:prstGeom>
          <a:ln w="3810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D34877EE-005A-EEE8-9E93-047467801A96}"/>
              </a:ext>
            </a:extLst>
          </p:cNvPr>
          <p:cNvCxnSpPr>
            <a:cxnSpLocks/>
          </p:cNvCxnSpPr>
          <p:nvPr/>
        </p:nvCxnSpPr>
        <p:spPr>
          <a:xfrm>
            <a:off x="7374430" y="1575483"/>
            <a:ext cx="1189624" cy="590078"/>
          </a:xfrm>
          <a:prstGeom prst="curvedConnector3">
            <a:avLst>
              <a:gd name="adj1" fmla="val 50000"/>
            </a:avLst>
          </a:prstGeom>
          <a:ln w="38100">
            <a:solidFill>
              <a:srgbClr val="FFFF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93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7E6C-C3B5-9ED1-3421-CB95F5AF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61E49-2B4D-F871-BDEC-8932B620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4605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000" dirty="0"/>
              <a:t>Алгоритм </a:t>
            </a:r>
            <a:r>
              <a:rPr lang="en-US" sz="4000" dirty="0"/>
              <a:t>2</a:t>
            </a:r>
            <a:r>
              <a:rPr lang="ru-RU" sz="4000" dirty="0"/>
              <a:t>. Сортировка и выбор первого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B03DC-D9AF-3265-D3FE-22DE2FEAB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9665368" cy="4351338"/>
          </a:xfrm>
        </p:spPr>
        <p:txBody>
          <a:bodyPr>
            <a:normAutofit/>
          </a:bodyPr>
          <a:lstStyle/>
          <a:p>
            <a:r>
              <a:rPr lang="ru-RU" sz="2400" dirty="0"/>
              <a:t> Сгруппировать данные и подсчитать количество</a:t>
            </a:r>
          </a:p>
          <a:p>
            <a:r>
              <a:rPr lang="ru-RU" sz="2400" dirty="0"/>
              <a:t> Отсортировать полученную таблицу: сначала по возрастанию </a:t>
            </a:r>
            <a:r>
              <a:rPr lang="en-US" sz="2400" dirty="0"/>
              <a:t>ID</a:t>
            </a:r>
            <a:r>
              <a:rPr lang="ru-RU" sz="2400" dirty="0"/>
              <a:t> исполнителя, затем по убыванию количество документов </a:t>
            </a:r>
          </a:p>
          <a:p>
            <a:r>
              <a:rPr lang="en-US" sz="2400" dirty="0"/>
              <a:t> </a:t>
            </a:r>
            <a:r>
              <a:rPr lang="ru-RU" sz="2400" dirty="0"/>
              <a:t>Для подразделения оставить только первую строку, так как она будет содержать максимум</a:t>
            </a:r>
          </a:p>
          <a:p>
            <a:r>
              <a:rPr lang="ru-RU" sz="2400" dirty="0"/>
              <a:t> Рассчитать долю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55633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1484-BA7B-95D3-ED8C-DC9D9FFC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A1BB5-729C-B9E7-7B7B-0777CEC4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4605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000" dirty="0"/>
              <a:t>Алгоритм 3. Оконные функции (</a:t>
            </a:r>
            <a:r>
              <a:rPr lang="en-US" sz="4000" dirty="0"/>
              <a:t>SQL</a:t>
            </a:r>
            <a:r>
              <a:rPr lang="ru-RU" sz="40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581073-C514-3AA2-F005-98FDC706A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4"/>
            <a:ext cx="9665368" cy="4831849"/>
          </a:xfrm>
        </p:spPr>
        <p:txBody>
          <a:bodyPr>
            <a:normAutofit/>
          </a:bodyPr>
          <a:lstStyle/>
          <a:p>
            <a:r>
              <a:rPr lang="ru-RU" sz="2400" dirty="0"/>
              <a:t> Сгруппировать данные и подсчитать количество</a:t>
            </a:r>
          </a:p>
          <a:p>
            <a:r>
              <a:rPr lang="ru-RU" sz="2400" dirty="0"/>
              <a:t> Применить функцию </a:t>
            </a:r>
            <a:r>
              <a:rPr lang="en-US" sz="2400" dirty="0"/>
              <a:t>ROW_NUMBER()</a:t>
            </a:r>
            <a:r>
              <a:rPr lang="ru-RU" sz="2400" dirty="0"/>
              <a:t>, так как по условию задачи требуется один код подразделения для каждого исполнителя</a:t>
            </a:r>
          </a:p>
          <a:p>
            <a:r>
              <a:rPr lang="en-US" sz="2400" dirty="0"/>
              <a:t> </a:t>
            </a:r>
            <a:r>
              <a:rPr lang="ru-RU" sz="2400" dirty="0"/>
              <a:t>Применить группировку </a:t>
            </a:r>
            <a:r>
              <a:rPr lang="en-US" sz="2400" dirty="0"/>
              <a:t>PARTITION BY </a:t>
            </a:r>
            <a:r>
              <a:rPr lang="ru-RU" sz="2400" dirty="0"/>
              <a:t>по </a:t>
            </a:r>
            <a:r>
              <a:rPr lang="en-US" sz="2400" dirty="0"/>
              <a:t>ID</a:t>
            </a:r>
            <a:r>
              <a:rPr lang="ru-RU" sz="2400" dirty="0"/>
              <a:t> исполнителя и сортировку по убыванию количества</a:t>
            </a:r>
          </a:p>
          <a:p>
            <a:r>
              <a:rPr lang="ru-RU" sz="2400" dirty="0"/>
              <a:t>Оставить строки с рангом 1</a:t>
            </a:r>
          </a:p>
          <a:p>
            <a:r>
              <a:rPr lang="ru-RU" sz="2400" dirty="0"/>
              <a:t> Рассчитать долю (отношение количества документов в топ-подразделении к общему количеству документов исполнителя, умноженное на 100%)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794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BBAB8-4511-7288-C636-048A5AF3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1AE298-D681-BF84-7806-D2689314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Я рассмотрела три подхода. Среди них с технической точки зрения самый эффективный – алгоритм 3 (Оконные функции), так как он сокращает время обработки на больших данных. Думаю, что для данного объёма данных всё же этот метод избыточен. </a:t>
            </a:r>
          </a:p>
          <a:p>
            <a:pPr marL="0" indent="0">
              <a:buNone/>
            </a:pPr>
            <a:r>
              <a:rPr lang="ru-RU" sz="2400" dirty="0"/>
              <a:t>Выбор реализации 1 алгоритма через </a:t>
            </a:r>
            <a:r>
              <a:rPr lang="en-US" sz="2400" dirty="0"/>
              <a:t>Excel </a:t>
            </a:r>
            <a:r>
              <a:rPr lang="ru-RU" sz="2400" dirty="0"/>
              <a:t>обусловлен удобством для проверки и демонстрацией логики.</a:t>
            </a:r>
          </a:p>
        </p:txBody>
      </p:sp>
    </p:spTree>
    <p:extLst>
      <p:ext uri="{BB962C8B-B14F-4D97-AF65-F5344CB8AC3E}">
        <p14:creationId xmlns:p14="http://schemas.microsoft.com/office/powerpoint/2010/main" val="1743158968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Синусоида</Template>
  <TotalTime>669</TotalTime>
  <Words>389</Words>
  <Application>Microsoft Office PowerPoint</Application>
  <PresentationFormat>Широкоэкранный</PresentationFormat>
  <Paragraphs>38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Posterama</vt:lpstr>
      <vt:lpstr>quote-cjk-patch</vt:lpstr>
      <vt:lpstr>SineVTI</vt:lpstr>
      <vt:lpstr>Тестовое задание: Анализ объёма операций по исполнителям</vt:lpstr>
      <vt:lpstr>Алгоритм 1. Группировка и агрегация </vt:lpstr>
      <vt:lpstr>Реализация алгоритма 1 (Excel)</vt:lpstr>
      <vt:lpstr>Реализация алгоритма 1 (Excel)</vt:lpstr>
      <vt:lpstr>Реализация алгоритма 1 (Excel)</vt:lpstr>
      <vt:lpstr>Алгоритм 2. Сортировка и выбор первого</vt:lpstr>
      <vt:lpstr>Алгоритм 3. Оконные функции (SQL)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Ирина Царева</dc:creator>
  <cp:lastModifiedBy>Ирина Царева</cp:lastModifiedBy>
  <cp:revision>9</cp:revision>
  <dcterms:created xsi:type="dcterms:W3CDTF">2026-04-17T20:23:14Z</dcterms:created>
  <dcterms:modified xsi:type="dcterms:W3CDTF">2026-04-18T16:12:00Z</dcterms:modified>
</cp:coreProperties>
</file>